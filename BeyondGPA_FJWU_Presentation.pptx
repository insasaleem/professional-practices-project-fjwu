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73" r:id="rId3"/>
    <p:sldId id="274" r:id="rId5"/>
    <p:sldId id="258" r:id="rId6"/>
    <p:sldId id="278" r:id="rId7"/>
    <p:sldId id="259" r:id="rId8"/>
    <p:sldId id="260" r:id="rId9"/>
    <p:sldId id="262" r:id="rId10"/>
    <p:sldId id="280" r:id="rId11"/>
    <p:sldId id="281" r:id="rId12"/>
    <p:sldId id="282" r:id="rId13"/>
    <p:sldId id="279" r:id="rId14"/>
    <p:sldId id="263" r:id="rId15"/>
    <p:sldId id="264" r:id="rId16"/>
    <p:sldId id="265" r:id="rId17"/>
    <p:sldId id="266" r:id="rId18"/>
    <p:sldId id="284" r:id="rId19"/>
    <p:sldId id="267" r:id="rId20"/>
    <p:sldId id="268" r:id="rId21"/>
    <p:sldId id="261" r:id="rId22"/>
    <p:sldId id="276" r:id="rId23"/>
    <p:sldId id="275" r:id="rId24"/>
    <p:sldId id="271" r:id="rId25"/>
    <p:sldId id="272" r:id="rId26"/>
    <p:sldId id="285" r:id="rId2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Feeling Unprepared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2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Communication</c:v>
                </c:pt>
                <c:pt idx="1">
                  <c:v>Technical Skills</c:v>
                </c:pt>
                <c:pt idx="2">
                  <c:v>Problem Solving</c:v>
                </c:pt>
                <c:pt idx="3">
                  <c:v>Teamwork</c:v>
                </c:pt>
                <c:pt idx="4">
                  <c:v>Industry Know.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74</c:v>
                </c:pt>
                <c:pt idx="2">
                  <c:v>55</c:v>
                </c:pt>
                <c:pt idx="3">
                  <c:v>41</c:v>
                </c:pt>
                <c:pt idx="4">
                  <c:v>78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dabbbe20-332e-41b5-849f-93287550739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bubble3D val="0"/>
            <c:spPr>
              <a:solidFill>
                <a:srgbClr val="0D9488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Quantitative
Survey</c:v>
                </c:pt>
                <c:pt idx="1">
                  <c:v>Qualitative
Responses</c:v>
                </c:pt>
                <c:pt idx="2">
                  <c:v>Mixed
Feedback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35</c:v>
                </c:pt>
                <c:pt idx="2">
                  <c:v>20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GB" sz="1000" b="0" i="0" u="none" strike="noStrike" kern="1200" baseline="0">
              <a:solidFill>
                <a:srgbClr val="64748B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9d9607c-71cc-482c-b633-7ad8df69063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3" name="Google Shape;153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7" name="Google Shape;187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0" name="Google Shape;220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6" name="Google Shape;236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1" name="Google Shape;171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0" name="Google Shape;290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0" name="Google Shape;360;p1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7" Type="http://schemas.openxmlformats.org/officeDocument/2006/relationships/notesSlide" Target="../notesSlides/notesSlide8.x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33.png"/><Relationship Id="rId14" Type="http://schemas.openxmlformats.org/officeDocument/2006/relationships/image" Target="../media/image32.png"/><Relationship Id="rId13" Type="http://schemas.openxmlformats.org/officeDocument/2006/relationships/image" Target="../media/image31.png"/><Relationship Id="rId12" Type="http://schemas.openxmlformats.org/officeDocument/2006/relationships/image" Target="../media/image30.png"/><Relationship Id="rId11" Type="http://schemas.openxmlformats.org/officeDocument/2006/relationships/image" Target="../media/image29.png"/><Relationship Id="rId10" Type="http://schemas.openxmlformats.org/officeDocument/2006/relationships/image" Target="../media/image28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image" Target="../media/image40.png"/><Relationship Id="rId6" Type="http://schemas.openxmlformats.org/officeDocument/2006/relationships/tags" Target="../tags/tag3.xml"/><Relationship Id="rId5" Type="http://schemas.openxmlformats.org/officeDocument/2006/relationships/image" Target="../media/image39.png"/><Relationship Id="rId4" Type="http://schemas.openxmlformats.org/officeDocument/2006/relationships/tags" Target="../tags/tag2.xml"/><Relationship Id="rId3" Type="http://schemas.openxmlformats.org/officeDocument/2006/relationships/image" Target="../media/image38.png"/><Relationship Id="rId21" Type="http://schemas.openxmlformats.org/officeDocument/2006/relationships/notesSlide" Target="../notesSlides/notesSlide10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9" Type="http://schemas.openxmlformats.org/officeDocument/2006/relationships/image" Target="../media/image43.png"/><Relationship Id="rId18" Type="http://schemas.openxmlformats.org/officeDocument/2006/relationships/tags" Target="../tags/tag12.xml"/><Relationship Id="rId17" Type="http://schemas.openxmlformats.org/officeDocument/2006/relationships/image" Target="../media/image42.png"/><Relationship Id="rId16" Type="http://schemas.openxmlformats.org/officeDocument/2006/relationships/tags" Target="../tags/tag11.xml"/><Relationship Id="rId15" Type="http://schemas.openxmlformats.org/officeDocument/2006/relationships/image" Target="../media/image41.png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4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8.png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4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19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D4ED8">
              <a:alpha val="40000"/>
            </a:srgbClr>
          </a:solidFill>
          <a:ln w="12700">
            <a:solidFill>
              <a:srgbClr val="1D4ED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548640"/>
            <a:ext cx="2743200" cy="274320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840480"/>
            <a:ext cx="2743200" cy="2743200"/>
          </a:xfrm>
          <a:prstGeom prst="ellipse">
            <a:avLst/>
          </a:prstGeom>
          <a:solidFill>
            <a:srgbClr val="1D4ED8">
              <a:alpha val="30000"/>
            </a:srgbClr>
          </a:solidFill>
          <a:ln w="12700">
            <a:solidFill>
              <a:srgbClr val="1D4ED8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747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</a:rPr>
              <a:t>FJWU · Research Presntation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Beyond GPA:</a:t>
            </a:r>
            <a:endParaRPr lang="en-US" sz="46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Are FJWU Students </a:t>
            </a:r>
            <a:r>
              <a:rPr lang="en-US" sz="3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Truly 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Job-Ready?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      An Analytical Framework Combining Research · NLP · Data Analytics · Professional Ethics</a:t>
            </a:r>
            <a:endParaRPr lang="en-US" sz="1200" i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52A45"/>
          </a:solidFill>
          <a:ln w="12700">
            <a:solidFill>
              <a:srgbClr val="152A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617720"/>
            <a:ext cx="8595360" cy="525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Applied AI &amp; Data Science  ·  Mixed-Method Research  ·  NLP Analysis  ·  Professional Practices</a:t>
            </a: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560320"/>
            <a:ext cx="822960" cy="822960"/>
          </a:xfrm>
          <a:prstGeom prst="rect">
            <a:avLst/>
          </a:prstGeom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312128" y="3436337"/>
            <a:ext cx="1078706" cy="207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12128" y="3700655"/>
            <a:ext cx="1078706" cy="207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497991" y="3700655"/>
            <a:ext cx="1078706" cy="207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312128" y="3964974"/>
            <a:ext cx="1078706" cy="20716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3;p13"/>
          <p:cNvSpPr txBox="1"/>
          <p:nvPr/>
        </p:nvSpPr>
        <p:spPr>
          <a:xfrm>
            <a:off x="2285997" y="3377917"/>
            <a:ext cx="188706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chemeClr val="tx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Capstone Project Presentation</a:t>
            </a:r>
            <a:endParaRPr lang="en-US" sz="950" b="1" i="0" u="none" strike="noStrike" cap="none">
              <a:solidFill>
                <a:schemeClr val="tx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" name="Google Shape;94;p13"/>
          <p:cNvSpPr txBox="1"/>
          <p:nvPr/>
        </p:nvSpPr>
        <p:spPr>
          <a:xfrm>
            <a:off x="2285997" y="3581514"/>
            <a:ext cx="188706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chemeClr val="tx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Department of Computer Science</a:t>
            </a:r>
            <a:endParaRPr lang="en-US" sz="950" b="0" i="0" u="none" strike="noStrike" cap="none">
              <a:solidFill>
                <a:schemeClr val="tx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" name="Google Shape;95;p13"/>
          <p:cNvSpPr txBox="1"/>
          <p:nvPr/>
        </p:nvSpPr>
        <p:spPr>
          <a:xfrm>
            <a:off x="2285997" y="3785110"/>
            <a:ext cx="188706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chemeClr val="tx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Fatima Jinnah Women University</a:t>
            </a:r>
            <a:endParaRPr lang="en-US" sz="950" b="0" i="0" u="none" strike="noStrike" cap="none">
              <a:solidFill>
                <a:schemeClr val="tx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" name="Google Shape;96;p13"/>
          <p:cNvSpPr txBox="1"/>
          <p:nvPr/>
        </p:nvSpPr>
        <p:spPr>
          <a:xfrm>
            <a:off x="2285997" y="3988708"/>
            <a:ext cx="18870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chemeClr val="tx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Batch 202</a:t>
            </a:r>
            <a:r>
              <a:rPr lang="en-US" sz="950">
                <a:solidFill>
                  <a:schemeClr val="tx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3-27</a:t>
            </a:r>
            <a:endParaRPr lang="en-US" sz="950">
              <a:solidFill>
                <a:schemeClr val="tx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4855" y="3223260"/>
            <a:ext cx="2738755" cy="11893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 Professional Practices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8412480" cy="105156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73152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8138160" cy="1051560"/>
          </a:xfrm>
          <a:prstGeom prst="rect">
            <a:avLst/>
          </a:prstGeom>
          <a:noFill/>
        </p:spPr>
        <p:txBody>
          <a:bodyPr wrap="square" lIns="0" tIns="126999" rIns="126999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"Professional Practices means how professionally, ethically, systematically, and responsibly you handle a real-world project."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05840" y="2606040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665" y="2708910"/>
            <a:ext cx="443230" cy="44323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338328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3749040"/>
            <a:ext cx="1965960" cy="640080"/>
          </a:xfrm>
          <a:prstGeom prst="rect">
            <a:avLst/>
          </a:prstGeom>
          <a:noFill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standards &amp; quality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136392" y="2606040"/>
            <a:ext cx="68580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650" y="2744470"/>
            <a:ext cx="407670" cy="40767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96312" y="338328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Ethical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496312" y="3749040"/>
            <a:ext cx="1965960" cy="640080"/>
          </a:xfrm>
          <a:prstGeom prst="rect">
            <a:avLst/>
          </a:prstGeom>
          <a:noFill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Integrity &amp; responsibility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266944" y="2606040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665" y="2788920"/>
            <a:ext cx="351790" cy="35179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26864" y="338328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Systematic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626864" y="3749040"/>
            <a:ext cx="1965960" cy="640080"/>
          </a:xfrm>
          <a:prstGeom prst="rect">
            <a:avLst/>
          </a:prstGeom>
          <a:noFill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&amp; methodical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397496" y="260604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510" y="2720340"/>
            <a:ext cx="466090" cy="46609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57416" y="338328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Responsible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757416" y="3749040"/>
            <a:ext cx="1965960" cy="640080"/>
          </a:xfrm>
          <a:prstGeom prst="rect">
            <a:avLst/>
          </a:prstGeom>
          <a:noFill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Accountable outcomes</a:t>
            </a:r>
            <a:endParaRPr lang="en-US" sz="100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65" y="1090930"/>
            <a:ext cx="8422640" cy="126746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" y="3406140"/>
            <a:ext cx="9144000" cy="1492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1031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Problem Identification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143000"/>
            <a:ext cx="3749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143000"/>
            <a:ext cx="374904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14300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REAL-WORLD GAP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783080"/>
            <a:ext cx="1554480" cy="128016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78308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GPA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224028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 – 4.0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94360" y="27889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Score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194560" y="2240280"/>
            <a:ext cx="4572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48840" y="1810385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≠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2697480" y="1783080"/>
            <a:ext cx="1188720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97480" y="178308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JOB READY?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697480" y="224028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?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2697480" y="27889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 Ready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02920" y="3246120"/>
            <a:ext cx="338328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3291840"/>
            <a:ext cx="32004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Finding: 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Students may achieve high GPA yet still feel fundamentally unprepared for real-world employment challenges.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343400" y="1143000"/>
            <a:ext cx="4434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43400" y="1143000"/>
            <a:ext cx="44348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43400" y="1143000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IS PROFESSIONAL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0" y="181051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801368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892040" y="1737360"/>
            <a:ext cx="3749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Identified a meaningful, real-world educational problem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4572000" y="249631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2487168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892040" y="2423160"/>
            <a:ext cx="3749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Questioned existing assumptions about academic success metrics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4572000" y="318211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3172968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892040" y="3108960"/>
            <a:ext cx="3749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Focused on student employability — a genuine societal challenge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4572000" y="386791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3858768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892040" y="3794760"/>
            <a:ext cx="3749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Applied analytical thinking before beginning any data collection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4343400" y="4480560"/>
            <a:ext cx="443484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343400" y="4480560"/>
            <a:ext cx="4434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Practice Applied: Evidence-Based Problem Definition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750594" y="1525190"/>
            <a:ext cx="3821906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/>
          <p:nvPr/>
        </p:nvSpPr>
        <p:spPr>
          <a:xfrm>
            <a:off x="7358063" y="3357563"/>
            <a:ext cx="2143125" cy="2143125"/>
          </a:xfrm>
          <a:prstGeom prst="roundRect">
            <a:avLst>
              <a:gd name="adj" fmla="val 50000"/>
            </a:avLst>
          </a:prstGeom>
          <a:solidFill>
            <a:srgbClr val="E05A1D"/>
          </a:solidFill>
          <a:ln>
            <a:noFill/>
          </a:ln>
        </p:spPr>
        <p:txBody>
          <a:bodyPr spcFirstLastPara="1" wrap="square" lIns="68568" tIns="34275" rIns="68568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571500" y="1297838"/>
            <a:ext cx="4013001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E05A1D"/>
                </a:solidFill>
                <a:latin typeface="Calibri" panose="020F0502020204030204" pitchFamily="34" charset="0"/>
                <a:ea typeface="Poppins SemiBold" panose="00000500000000000000"/>
                <a:cs typeface="Calibri" panose="020F0502020204030204" pitchFamily="34" charset="0"/>
                <a:sym typeface="Poppins SemiBold" panose="00000500000000000000"/>
              </a:rPr>
              <a:t>THE CENTRAL QUESTION</a:t>
            </a:r>
            <a:endParaRPr lang="en-US" sz="2000" b="0" i="0" u="none" strike="noStrike" cap="none">
              <a:solidFill>
                <a:srgbClr val="E05A1D"/>
              </a:solidFill>
              <a:latin typeface="Calibri" panose="020F0502020204030204" pitchFamily="34" charset="0"/>
              <a:ea typeface="Poppins SemiBold" panose="00000500000000000000"/>
              <a:cs typeface="Calibri" panose="020F0502020204030204" pitchFamily="34" charset="0"/>
              <a:sym typeface="Poppins SemiBold" panose="00000500000000000000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571500" y="1659255"/>
            <a:ext cx="6796405" cy="68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B1E36"/>
                </a:solidFill>
                <a:latin typeface="Inter Medium" panose="02000503000000020004"/>
                <a:ea typeface="Inter Medium" panose="02000503000000020004"/>
                <a:cs typeface="Inter Medium" panose="02000503000000020004"/>
                <a:sym typeface="Inter Medium" panose="02000503000000020004"/>
              </a:rPr>
              <a:t>"Does academic performance alone determine job readiness, or do practical skills and industry exposure play a greater role?"</a:t>
            </a:r>
            <a:endParaRPr lang="en-US" sz="1600" b="1" i="0" u="none" strike="noStrike" cap="none">
              <a:solidFill>
                <a:srgbClr val="0B1E36"/>
              </a:solidFill>
              <a:latin typeface="Inter Medium" panose="02000503000000020004"/>
              <a:ea typeface="Inter Medium" panose="02000503000000020004"/>
              <a:cs typeface="Inter Medium" panose="02000503000000020004"/>
              <a:sym typeface="Inter Medium" panose="02000503000000020004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571500" y="2812405"/>
            <a:ext cx="4013001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B1E36"/>
                </a:solidFill>
                <a:latin typeface="Calibri" panose="020F0502020204030204" pitchFamily="34" charset="0"/>
                <a:ea typeface="Poppins SemiBold" panose="00000500000000000000"/>
                <a:cs typeface="Calibri" panose="020F0502020204030204" pitchFamily="34" charset="0"/>
                <a:sym typeface="Poppins SemiBold" panose="00000500000000000000"/>
              </a:rPr>
              <a:t>Target Investigation Areas</a:t>
            </a:r>
            <a:endParaRPr lang="en-US" sz="2000" b="0" i="0" u="none" strike="noStrike" cap="none">
              <a:solidFill>
                <a:srgbClr val="0B1E36"/>
              </a:solidFill>
              <a:latin typeface="Calibri" panose="020F0502020204030204" pitchFamily="34" charset="0"/>
              <a:ea typeface="Poppins SemiBold" panose="00000500000000000000"/>
              <a:cs typeface="Calibri" panose="020F0502020204030204" pitchFamily="34" charset="0"/>
              <a:sym typeface="Poppins SemiBold" panose="00000500000000000000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771525" y="3148330"/>
            <a:ext cx="6024245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Comparison of high CGPA versus practical application confidence</a:t>
            </a:r>
            <a:endParaRPr lang="en-US" sz="12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771525" y="3405336"/>
            <a:ext cx="3621881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Influence of industry internships &amp; standard certifications</a:t>
            </a:r>
            <a:endParaRPr lang="en-US" sz="12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771525" y="3662511"/>
            <a:ext cx="3621881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Disconnect between academic curricula &amp; modern market demands</a:t>
            </a:r>
            <a:endParaRPr lang="en-US" sz="12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64" name="Google Shape;164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176736"/>
            <a:ext cx="71438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433911"/>
            <a:ext cx="71438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691086"/>
            <a:ext cx="71438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678656" y="428625"/>
            <a:ext cx="8288536" cy="43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B1E36"/>
                </a:solidFill>
                <a:latin typeface="Calibri" panose="020F0502020204030204" pitchFamily="34" charset="0"/>
                <a:ea typeface="Poppins SemiBold" panose="00000500000000000000"/>
                <a:cs typeface="Calibri" panose="020F0502020204030204" pitchFamily="34" charset="0"/>
                <a:sym typeface="Poppins SemiBold" panose="00000500000000000000"/>
              </a:rPr>
              <a:t>Research Problem</a:t>
            </a:r>
            <a:endParaRPr lang="en-US" sz="2800" b="0" i="0" u="none" strike="noStrike" cap="none">
              <a:solidFill>
                <a:srgbClr val="0B1E36"/>
              </a:solidFill>
              <a:latin typeface="Calibri" panose="020F0502020204030204" pitchFamily="34" charset="0"/>
              <a:ea typeface="Poppins SemiBold" panose="00000500000000000000"/>
              <a:cs typeface="Calibri" panose="020F0502020204030204" pitchFamily="34" charset="0"/>
              <a:sym typeface="Poppins SemiBold" panose="00000500000000000000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571500" y="428625"/>
            <a:ext cx="35719" cy="407194"/>
          </a:xfrm>
          <a:prstGeom prst="rect">
            <a:avLst/>
          </a:prstGeom>
          <a:solidFill>
            <a:srgbClr val="E05A1D"/>
          </a:solidFill>
          <a:ln>
            <a:noFill/>
          </a:ln>
        </p:spPr>
        <p:txBody>
          <a:bodyPr spcFirstLastPara="1" wrap="square" lIns="68568" tIns="34275" rIns="68568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1031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Requirements Gathering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18872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188720"/>
            <a:ext cx="26974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34440" y="1371600"/>
            <a:ext cx="868680" cy="8686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435608"/>
            <a:ext cx="731520" cy="7315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233172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20040" y="269748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data source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29768" y="301752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Surveyed student perception of job readiness, skill gaps, and academic experience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246120" y="118872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46120" y="1188720"/>
            <a:ext cx="26974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160520" y="1371600"/>
            <a:ext cx="868680" cy="8686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1435608"/>
            <a:ext cx="731520" cy="7315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246120" y="233172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University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246120" y="269748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Institutional background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3355848" y="301752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FJWU academic environment, curriculum structure, and student demographics considered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172200" y="118872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172200" y="1188720"/>
            <a:ext cx="26974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086600" y="1371600"/>
            <a:ext cx="868680" cy="8686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8" y="1435608"/>
            <a:ext cx="731520" cy="7315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172200" y="233172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172200" y="269748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Job-readiness benchmarks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6281928" y="301752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 expectations for skills, communication, and professional competencies examined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20040" y="3931920"/>
            <a:ext cx="8503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0040" y="3931920"/>
            <a:ext cx="64008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02920" y="39776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Practice Applied: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02920" y="42976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Questionnaire designed to avoid bias · Gather authentic insights · Capture real student behavior · Cover all stakeholder perspectives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1031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Ethical Data Collection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1887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188720"/>
            <a:ext cx="64008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9903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129844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Consent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188720" y="169164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Students voluntarily filled out forms. No coercion or pressure applied at any stage.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709160" y="11887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09160" y="118872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37760" y="13716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9903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77840" y="129844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Privacy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577840" y="169164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sensitive personal information was collected. Participant anonymity fully maintained.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20040" y="31089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108960"/>
            <a:ext cx="64008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319272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321868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Confidentiality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188720" y="361188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responses used exclusively for academic research purposes only.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709160" y="31089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709160" y="310896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937760" y="329184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3319272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77840" y="321868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5577840" y="361188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Participants were fully informed about the purpose and scope of the research.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Practice Applied: Ethical research framework — making this project credible, trustworthy, and academically sound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1031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 ·  Data Management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188720"/>
            <a:ext cx="1508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188720"/>
            <a:ext cx="1508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353312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35331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20040" y="210312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256032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Survey responses collected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828800" y="1965960"/>
            <a:ext cx="201168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47672" y="1828800"/>
            <a:ext cx="182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057400" y="1188720"/>
            <a:ext cx="1508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057400" y="1188720"/>
            <a:ext cx="15087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468880" y="1353312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68880" y="135331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057400" y="210312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148840" y="256032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Organized into columns &amp; rows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566160" y="1965960"/>
            <a:ext cx="201168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85032" y="1828800"/>
            <a:ext cx="182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794760" y="1188720"/>
            <a:ext cx="1508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794760" y="1188720"/>
            <a:ext cx="1508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206240" y="1353312"/>
            <a:ext cx="68580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06240" y="135331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794760" y="210312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Cleaning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886200" y="256032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Inconsistencies removed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303520" y="1965960"/>
            <a:ext cx="201168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22392" y="1828800"/>
            <a:ext cx="182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532120" y="1188720"/>
            <a:ext cx="1508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532120" y="1188720"/>
            <a:ext cx="1508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943600" y="1353312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0" y="135331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5532120" y="210312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Qualitative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Conversion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623560" y="256032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→ analyzable format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040880" y="1965960"/>
            <a:ext cx="201168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159752" y="1828800"/>
            <a:ext cx="182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269480" y="1188720"/>
            <a:ext cx="1508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269480" y="1188720"/>
            <a:ext cx="15087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680960" y="1353312"/>
            <a:ext cx="685800" cy="6858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680960" y="135331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7269480" y="210312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Ready for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7360920" y="256032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Clean, reliable dataset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320040" y="32461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320040" y="3246120"/>
            <a:ext cx="64008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02920" y="333756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Integrity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502920" y="374904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Accurate, complete records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3246120" y="32461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3246120" y="3246120"/>
            <a:ext cx="64008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429000" y="333756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3429000" y="374904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Consistent, reproducible data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6172200" y="32461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6172200" y="3246120"/>
            <a:ext cx="6400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355080" y="333756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6355080" y="374904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Verified, bias-reduced inputs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320040" y="4754880"/>
            <a:ext cx="8503920" cy="24688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20040" y="4754880"/>
            <a:ext cx="8503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Practice Applied: Structured data pipeline ensuring integrity, accuracy, and reliability throughout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707356"/>
            <a:ext cx="3821906" cy="2350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750435" y="1707515"/>
            <a:ext cx="3822065" cy="26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828675" y="1964531"/>
            <a:ext cx="1417677" cy="24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B1E36"/>
                </a:solidFill>
                <a:latin typeface="Calibri" panose="020F0502020204030204" pitchFamily="34" charset="0"/>
                <a:ea typeface="Poppins SemiBold" panose="00000500000000000000"/>
                <a:cs typeface="Calibri" panose="020F0502020204030204" pitchFamily="34" charset="0"/>
                <a:sym typeface="Poppins SemiBold" panose="00000500000000000000"/>
              </a:rPr>
              <a:t>Cleaning Tasks</a:t>
            </a:r>
            <a:endParaRPr lang="en-US" sz="1600" b="1" i="0" u="none" strike="noStrike" cap="none">
              <a:solidFill>
                <a:srgbClr val="0B1E36"/>
              </a:solidFill>
              <a:latin typeface="Calibri" panose="020F0502020204030204" pitchFamily="34" charset="0"/>
              <a:ea typeface="Poppins SemiBold" panose="00000500000000000000"/>
              <a:cs typeface="Calibri" panose="020F0502020204030204" pitchFamily="34" charset="0"/>
              <a:sym typeface="Poppins SemiBold" panose="00000500000000000000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828675" y="2271713"/>
            <a:ext cx="1350169" cy="14288"/>
          </a:xfrm>
          <a:prstGeom prst="rect">
            <a:avLst/>
          </a:prstGeom>
          <a:solidFill>
            <a:srgbClr val="E05A1D"/>
          </a:solidFill>
          <a:ln>
            <a:noFill/>
          </a:ln>
        </p:spPr>
        <p:txBody>
          <a:bodyPr spcFirstLastPara="1" wrap="square" lIns="68568" tIns="34275" rIns="68568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5007769" y="1964531"/>
            <a:ext cx="2107763" cy="24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B1E36"/>
                </a:solidFill>
                <a:latin typeface="Calibri" panose="020F0502020204030204" pitchFamily="34" charset="0"/>
                <a:ea typeface="Poppins SemiBold" panose="00000500000000000000"/>
                <a:cs typeface="Calibri" panose="020F0502020204030204" pitchFamily="34" charset="0"/>
                <a:sym typeface="Poppins SemiBold" panose="00000500000000000000"/>
              </a:rPr>
              <a:t>Technology Tools Used</a:t>
            </a:r>
            <a:endParaRPr lang="en-US" sz="1600" b="1" i="0" u="none" strike="noStrike" cap="none">
              <a:solidFill>
                <a:srgbClr val="0B1E36"/>
              </a:solidFill>
              <a:latin typeface="Calibri" panose="020F0502020204030204" pitchFamily="34" charset="0"/>
              <a:ea typeface="Poppins SemiBold" panose="00000500000000000000"/>
              <a:cs typeface="Calibri" panose="020F0502020204030204" pitchFamily="34" charset="0"/>
              <a:sym typeface="Poppins SemiBold" panose="00000500000000000000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5007769" y="2271713"/>
            <a:ext cx="2007394" cy="14288"/>
          </a:xfrm>
          <a:prstGeom prst="rect">
            <a:avLst/>
          </a:prstGeom>
          <a:solidFill>
            <a:srgbClr val="E05A1D"/>
          </a:solidFill>
          <a:ln>
            <a:noFill/>
          </a:ln>
        </p:spPr>
        <p:txBody>
          <a:bodyPr spcFirstLastPara="1" wrap="square" lIns="68568" tIns="34275" rIns="68568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5023485" y="2428875"/>
            <a:ext cx="3529965" cy="83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entire pipeline leverages standard open-source data science tools to guarantee absolute auditability and replication.</a:t>
            </a:r>
            <a:endParaRPr lang="en-US" sz="12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1028700" y="2428875"/>
            <a:ext cx="3107531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Removed partial and incomplete records.</a:t>
            </a:r>
            <a:endParaRPr lang="en-US" sz="12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1028700" y="2686050"/>
            <a:ext cx="3107531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Standardized qualitative and categorical data.</a:t>
            </a:r>
            <a:endParaRPr lang="en-US" sz="12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1028700" y="2943225"/>
            <a:ext cx="3107531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Addressed and input minor missing values.</a:t>
            </a:r>
            <a:endParaRPr lang="en-US" sz="12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1028700" y="3200400"/>
            <a:ext cx="3107531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Eradicated unexpected duplicate response rows.</a:t>
            </a:r>
            <a:endParaRPr lang="en-US" sz="12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1028700" y="3457575"/>
            <a:ext cx="3107531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Formatted structural layout for advanced analytic runs.</a:t>
            </a:r>
            <a:endParaRPr lang="en-US" sz="12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03" name="Google Shape;203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007769" y="3445669"/>
            <a:ext cx="7715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886450" y="3450114"/>
            <a:ext cx="792956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786563" y="3450114"/>
            <a:ext cx="871538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5007769" y="3843020"/>
            <a:ext cx="8286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8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6015038" y="3207544"/>
            <a:ext cx="100013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8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6915150" y="3207544"/>
            <a:ext cx="857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8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4878546" y="3086100"/>
            <a:ext cx="128588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8" descr="image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828675" y="2457450"/>
            <a:ext cx="100013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8" descr="image.png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828675" y="271462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8" descr="image.png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828675" y="297180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8" descr="image.png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828675" y="322897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8" descr="image.png"/>
          <p:cNvPicPr preferRelativeResize="0"/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828675" y="3486150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8"/>
          <p:cNvSpPr txBox="1"/>
          <p:nvPr/>
        </p:nvSpPr>
        <p:spPr>
          <a:xfrm>
            <a:off x="678656" y="428625"/>
            <a:ext cx="8288536" cy="328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0" b="0" i="0" u="none" strike="noStrike" cap="none">
                <a:solidFill>
                  <a:srgbClr val="0B1E36"/>
                </a:solidFill>
                <a:latin typeface="Calibri" panose="020F0502020204030204" pitchFamily="34" charset="0"/>
                <a:ea typeface="Poppins SemiBold" panose="00000500000000000000"/>
                <a:cs typeface="Calibri" panose="020F0502020204030204" pitchFamily="34" charset="0"/>
                <a:sym typeface="Poppins SemiBold" panose="00000500000000000000"/>
              </a:rPr>
              <a:t>Data Preprocessing</a:t>
            </a:r>
            <a:endParaRPr lang="en-US" sz="2140" b="0" i="0" u="none" strike="noStrike" cap="none">
              <a:solidFill>
                <a:srgbClr val="0B1E36"/>
              </a:solidFill>
              <a:latin typeface="Calibri" panose="020F0502020204030204" pitchFamily="34" charset="0"/>
              <a:ea typeface="Poppins SemiBold" panose="00000500000000000000"/>
              <a:cs typeface="Calibri" panose="020F0502020204030204" pitchFamily="34" charset="0"/>
              <a:sym typeface="Poppins SemiBold" panose="00000500000000000000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571500" y="428625"/>
            <a:ext cx="35719" cy="407194"/>
          </a:xfrm>
          <a:prstGeom prst="rect">
            <a:avLst/>
          </a:prstGeom>
          <a:solidFill>
            <a:srgbClr val="E05A1D"/>
          </a:solidFill>
          <a:ln>
            <a:noFill/>
          </a:ln>
        </p:spPr>
        <p:txBody>
          <a:bodyPr spcFirstLastPara="1" wrap="square" lIns="68568" tIns="34275" rIns="68568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751705" y="1732280"/>
            <a:ext cx="4215765" cy="230060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/>
        </p:nvSpPr>
        <p:spPr>
          <a:xfrm>
            <a:off x="571500" y="2157413"/>
            <a:ext cx="4013001" cy="24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B1E36"/>
                </a:solidFill>
                <a:latin typeface="Calibri" panose="020F0502020204030204" pitchFamily="34" charset="0"/>
                <a:ea typeface="Poppins SemiBold" panose="00000500000000000000"/>
                <a:cs typeface="Calibri" panose="020F0502020204030204" pitchFamily="34" charset="0"/>
                <a:sym typeface="Poppins SemiBold" panose="00000500000000000000"/>
              </a:rPr>
              <a:t>Key Observations</a:t>
            </a:r>
            <a:endParaRPr lang="en-US" sz="1600" b="1" i="0" u="none" strike="noStrike" cap="none">
              <a:solidFill>
                <a:srgbClr val="0B1E36"/>
              </a:solidFill>
              <a:latin typeface="Calibri" panose="020F0502020204030204" pitchFamily="34" charset="0"/>
              <a:ea typeface="Poppins SemiBold" panose="00000500000000000000"/>
              <a:cs typeface="Calibri" panose="020F0502020204030204" pitchFamily="34" charset="0"/>
              <a:sym typeface="Poppins SemiBold" panose="00000500000000000000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4559161" y="1517094"/>
            <a:ext cx="4013001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B1E36"/>
                </a:solidFill>
                <a:latin typeface="Calibri" panose="020F0502020204030204" pitchFamily="34" charset="0"/>
                <a:ea typeface="Poppins SemiBold" panose="00000500000000000000"/>
                <a:cs typeface="Calibri" panose="020F0502020204030204" pitchFamily="34" charset="0"/>
                <a:sym typeface="Poppins SemiBold" panose="00000500000000000000"/>
              </a:rPr>
              <a:t>Student Job Readiness Self-Ratings</a:t>
            </a:r>
            <a:endParaRPr lang="en-US" sz="1400" b="1" i="0" u="none" strike="noStrike" cap="none">
              <a:solidFill>
                <a:srgbClr val="0B1E36"/>
              </a:solidFill>
              <a:latin typeface="Calibri" panose="020F0502020204030204" pitchFamily="34" charset="0"/>
              <a:ea typeface="Poppins SemiBold" panose="00000500000000000000"/>
              <a:cs typeface="Calibri" panose="020F0502020204030204" pitchFamily="34" charset="0"/>
              <a:sym typeface="Poppins SemiBold" panose="00000500000000000000"/>
            </a:endParaRPr>
          </a:p>
        </p:txBody>
      </p:sp>
      <p:sp>
        <p:nvSpPr>
          <p:cNvPr id="226" name="Google Shape;226;p19"/>
          <p:cNvSpPr txBox="1"/>
          <p:nvPr/>
        </p:nvSpPr>
        <p:spPr>
          <a:xfrm>
            <a:off x="771525" y="2493010"/>
            <a:ext cx="3895090" cy="1086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Most FJWU CS students exhibit CGPA ranges between 3.0 and 3.5.</a:t>
            </a:r>
            <a:br>
              <a:rPr lang="en-US" sz="12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</a:br>
            <a:endParaRPr lang="en-US" sz="12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7" name="Google Shape;227;p19"/>
          <p:cNvSpPr txBox="1"/>
          <p:nvPr/>
        </p:nvSpPr>
        <p:spPr>
          <a:xfrm>
            <a:off x="771525" y="2921635"/>
            <a:ext cx="3895090" cy="1086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 significant portion of respondents have no internship exposure.</a:t>
            </a:r>
            <a:endParaRPr lang="en-US" sz="12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771525" y="3178810"/>
            <a:ext cx="3895090" cy="1086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Standard programming rated much higher than advanced DevOps or Project Management.</a:t>
            </a:r>
            <a:endParaRPr lang="en-US" sz="12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29" name="Google Shape;229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521744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2950369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3207544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 txBox="1"/>
          <p:nvPr/>
        </p:nvSpPr>
        <p:spPr>
          <a:xfrm>
            <a:off x="678656" y="428625"/>
            <a:ext cx="8288536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B1E36"/>
                </a:solidFill>
                <a:latin typeface="Calibri" panose="020F0502020204030204" pitchFamily="34" charset="0"/>
                <a:ea typeface="Poppins SemiBold" panose="00000500000000000000"/>
                <a:cs typeface="Calibri" panose="020F0502020204030204" pitchFamily="34" charset="0"/>
                <a:sym typeface="Poppins SemiBold" panose="00000500000000000000"/>
              </a:rPr>
              <a:t>Exploratory Data Analysis</a:t>
            </a:r>
            <a:endParaRPr lang="en-US" sz="2400" b="0" i="0" u="none" strike="noStrike" cap="none">
              <a:solidFill>
                <a:srgbClr val="0B1E36"/>
              </a:solidFill>
              <a:latin typeface="Calibri" panose="020F0502020204030204" pitchFamily="34" charset="0"/>
              <a:ea typeface="Poppins SemiBold" panose="00000500000000000000"/>
              <a:cs typeface="Calibri" panose="020F0502020204030204" pitchFamily="34" charset="0"/>
              <a:sym typeface="Poppins SemiBold" panose="00000500000000000000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571500" y="428625"/>
            <a:ext cx="35719" cy="407194"/>
          </a:xfrm>
          <a:prstGeom prst="rect">
            <a:avLst/>
          </a:prstGeom>
          <a:solidFill>
            <a:srgbClr val="E05A1D"/>
          </a:solidFill>
          <a:ln>
            <a:noFill/>
          </a:ln>
        </p:spPr>
        <p:txBody>
          <a:bodyPr spcFirstLastPara="1" wrap="square" lIns="68568" tIns="34275" rIns="68568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061210"/>
            <a:ext cx="2548255" cy="2328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0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3298190" y="2061210"/>
            <a:ext cx="2548255" cy="2328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 descr="image.png"/>
          <p:cNvPicPr preferRelativeResize="0"/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6024880" y="2061210"/>
            <a:ext cx="2548255" cy="232854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0"/>
          <p:cNvSpPr/>
          <p:nvPr/>
        </p:nvSpPr>
        <p:spPr>
          <a:xfrm>
            <a:off x="6929438" y="3681413"/>
            <a:ext cx="2143125" cy="2143125"/>
          </a:xfrm>
          <a:prstGeom prst="roundRect">
            <a:avLst>
              <a:gd name="adj" fmla="val 50000"/>
            </a:avLst>
          </a:prstGeom>
          <a:solidFill>
            <a:srgbClr val="E05A1D"/>
          </a:solidFill>
          <a:ln>
            <a:noFill/>
          </a:ln>
        </p:spPr>
        <p:txBody>
          <a:bodyPr spcFirstLastPara="1" wrap="square" lIns="68568" tIns="34275" rIns="68568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20"/>
          <p:cNvSpPr txBox="1"/>
          <p:nvPr>
            <p:custDataLst>
              <p:tags r:id="rId8"/>
            </p:custDataLst>
          </p:nvPr>
        </p:nvSpPr>
        <p:spPr>
          <a:xfrm>
            <a:off x="757238" y="2632472"/>
            <a:ext cx="2285324" cy="24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B1E36"/>
                </a:solidFill>
                <a:latin typeface="Calibri" panose="020F0502020204030204" pitchFamily="34" charset="0"/>
                <a:ea typeface="Poppins SemiBold" panose="00000500000000000000"/>
                <a:cs typeface="Calibri" panose="020F0502020204030204" pitchFamily="34" charset="0"/>
                <a:sym typeface="Poppins SemiBold" panose="00000500000000000000"/>
              </a:rPr>
              <a:t>CGPA vs Skills Gap</a:t>
            </a:r>
            <a:endParaRPr lang="en-US" sz="1600" b="1" i="0" u="none" strike="noStrike" cap="none">
              <a:solidFill>
                <a:srgbClr val="0B1E36"/>
              </a:solidFill>
              <a:latin typeface="Calibri" panose="020F0502020204030204" pitchFamily="34" charset="0"/>
              <a:ea typeface="Poppins SemiBold" panose="00000500000000000000"/>
              <a:cs typeface="Calibri" panose="020F0502020204030204" pitchFamily="34" charset="0"/>
              <a:sym typeface="Poppins SemiBold" panose="00000500000000000000"/>
            </a:endParaRPr>
          </a:p>
        </p:txBody>
      </p:sp>
      <p:sp>
        <p:nvSpPr>
          <p:cNvPr id="244" name="Google Shape;244;p20"/>
          <p:cNvSpPr txBox="1"/>
          <p:nvPr>
            <p:custDataLst>
              <p:tags r:id="rId9"/>
            </p:custDataLst>
          </p:nvPr>
        </p:nvSpPr>
        <p:spPr>
          <a:xfrm>
            <a:off x="757238" y="2918222"/>
            <a:ext cx="2176499" cy="912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Correlation tests show a weak link between pure CGPA and practical technical execution. Top grades don't guarantee project capability.</a:t>
            </a:r>
            <a:endParaRPr lang="en-US" sz="990" b="0" i="0" u="none" strike="noStrike" cap="none">
              <a:solidFill>
                <a:srgbClr val="47556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45" name="Google Shape;245;p20"/>
          <p:cNvSpPr txBox="1"/>
          <p:nvPr>
            <p:custDataLst>
              <p:tags r:id="rId10"/>
            </p:custDataLst>
          </p:nvPr>
        </p:nvSpPr>
        <p:spPr>
          <a:xfrm>
            <a:off x="3483806" y="2632472"/>
            <a:ext cx="2285324" cy="24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B1E36"/>
                </a:solidFill>
                <a:latin typeface="Calibri" panose="020F0502020204030204" pitchFamily="34" charset="0"/>
                <a:ea typeface="Poppins SemiBold" panose="00000500000000000000"/>
                <a:cs typeface="Calibri" panose="020F0502020204030204" pitchFamily="34" charset="0"/>
                <a:sym typeface="Poppins SemiBold" panose="00000500000000000000"/>
              </a:rPr>
              <a:t>Exposure Lift</a:t>
            </a:r>
            <a:endParaRPr lang="en-US" sz="1600" b="1" i="0" u="none" strike="noStrike" cap="none">
              <a:solidFill>
                <a:srgbClr val="0B1E36"/>
              </a:solidFill>
              <a:latin typeface="Calibri" panose="020F0502020204030204" pitchFamily="34" charset="0"/>
              <a:ea typeface="Poppins SemiBold" panose="00000500000000000000"/>
              <a:cs typeface="Calibri" panose="020F0502020204030204" pitchFamily="34" charset="0"/>
              <a:sym typeface="Poppins SemiBold" panose="00000500000000000000"/>
            </a:endParaRPr>
          </a:p>
        </p:txBody>
      </p:sp>
      <p:sp>
        <p:nvSpPr>
          <p:cNvPr id="246" name="Google Shape;246;p20"/>
          <p:cNvSpPr txBox="1"/>
          <p:nvPr>
            <p:custDataLst>
              <p:tags r:id="rId11"/>
            </p:custDataLst>
          </p:nvPr>
        </p:nvSpPr>
        <p:spPr>
          <a:xfrm>
            <a:off x="3483806" y="2918222"/>
            <a:ext cx="2176499" cy="912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Internship and certified training experiences mathematically produce a direct positive shift in confidence and perceived work readiness.</a:t>
            </a:r>
            <a:endParaRPr lang="en-US" sz="990" b="0" i="0" u="none" strike="noStrike" cap="none">
              <a:solidFill>
                <a:srgbClr val="47556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47" name="Google Shape;247;p20"/>
          <p:cNvSpPr txBox="1"/>
          <p:nvPr>
            <p:custDataLst>
              <p:tags r:id="rId12"/>
            </p:custDataLst>
          </p:nvPr>
        </p:nvSpPr>
        <p:spPr>
          <a:xfrm>
            <a:off x="6210374" y="2632472"/>
            <a:ext cx="2285324" cy="24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B1E36"/>
                </a:solidFill>
                <a:latin typeface="Calibri" panose="020F0502020204030204" pitchFamily="34" charset="0"/>
                <a:ea typeface="Poppins SemiBold" panose="00000500000000000000"/>
                <a:cs typeface="Calibri" panose="020F0502020204030204" pitchFamily="34" charset="0"/>
                <a:sym typeface="Poppins SemiBold" panose="00000500000000000000"/>
              </a:rPr>
              <a:t>Identified Gaps</a:t>
            </a:r>
            <a:endParaRPr lang="en-US" sz="1600" b="1" i="0" u="none" strike="noStrike" cap="none">
              <a:solidFill>
                <a:srgbClr val="0B1E36"/>
              </a:solidFill>
              <a:latin typeface="Calibri" panose="020F0502020204030204" pitchFamily="34" charset="0"/>
              <a:ea typeface="Poppins SemiBold" panose="00000500000000000000"/>
              <a:cs typeface="Calibri" panose="020F0502020204030204" pitchFamily="34" charset="0"/>
              <a:sym typeface="Poppins SemiBold" panose="00000500000000000000"/>
            </a:endParaRPr>
          </a:p>
        </p:txBody>
      </p:sp>
      <p:sp>
        <p:nvSpPr>
          <p:cNvPr id="248" name="Google Shape;248;p20"/>
          <p:cNvSpPr txBox="1"/>
          <p:nvPr>
            <p:custDataLst>
              <p:tags r:id="rId13"/>
            </p:custDataLst>
          </p:nvPr>
        </p:nvSpPr>
        <p:spPr>
          <a:xfrm>
            <a:off x="6210374" y="2918222"/>
            <a:ext cx="2176499" cy="912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Severe gaps exist in Cloud, DevOps, Agile Methodologies, and corporate business communication compared to standard requirements.</a:t>
            </a:r>
            <a:endParaRPr lang="en-US" sz="990" b="0" i="0" u="none" strike="noStrike" cap="none">
              <a:solidFill>
                <a:srgbClr val="47556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49" name="Google Shape;249;p20" descr="image.png"/>
          <p:cNvPicPr preferRelativeResize="0"/>
          <p:nvPr>
            <p:custDataLst>
              <p:tags r:id="rId14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757238" y="226814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0" descr="image.png"/>
          <p:cNvPicPr preferRelativeResize="0"/>
          <p:nvPr>
            <p:custDataLst>
              <p:tags r:id="rId16"/>
            </p:custDataLst>
          </p:nvPr>
        </p:nvPicPr>
        <p:blipFill rotWithShape="1">
          <a:blip r:embed="rId17"/>
          <a:srcRect/>
          <a:stretch>
            <a:fillRect/>
          </a:stretch>
        </p:blipFill>
        <p:spPr>
          <a:xfrm>
            <a:off x="3483806" y="226814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0" descr="image.png"/>
          <p:cNvPicPr preferRelativeResize="0"/>
          <p:nvPr>
            <p:custDataLst>
              <p:tags r:id="rId18"/>
            </p:custDataLst>
          </p:nvPr>
        </p:nvPicPr>
        <p:blipFill rotWithShape="1">
          <a:blip r:embed="rId19"/>
          <a:srcRect/>
          <a:stretch>
            <a:fillRect/>
          </a:stretch>
        </p:blipFill>
        <p:spPr>
          <a:xfrm>
            <a:off x="6210374" y="22681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0"/>
          <p:cNvSpPr txBox="1"/>
          <p:nvPr/>
        </p:nvSpPr>
        <p:spPr>
          <a:xfrm>
            <a:off x="678656" y="428625"/>
            <a:ext cx="8288536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B1E36"/>
                </a:solidFill>
                <a:latin typeface="Calibri" panose="020F0502020204030204" pitchFamily="34" charset="0"/>
                <a:ea typeface="Poppins SemiBold" panose="00000500000000000000"/>
                <a:cs typeface="Calibri" panose="020F0502020204030204" pitchFamily="34" charset="0"/>
                <a:sym typeface="Poppins SemiBold" panose="00000500000000000000"/>
              </a:rPr>
              <a:t>Statistical Analysis</a:t>
            </a:r>
            <a:endParaRPr lang="en-US" sz="3200" b="1" i="0" u="none" strike="noStrike" cap="none">
              <a:solidFill>
                <a:srgbClr val="0B1E36"/>
              </a:solidFill>
              <a:latin typeface="Calibri" panose="020F0502020204030204" pitchFamily="34" charset="0"/>
              <a:ea typeface="Poppins SemiBold" panose="00000500000000000000"/>
              <a:cs typeface="Calibri" panose="020F0502020204030204" pitchFamily="34" charset="0"/>
              <a:sym typeface="Poppins SemiBold" panose="00000500000000000000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571500" y="428625"/>
            <a:ext cx="35719" cy="407194"/>
          </a:xfrm>
          <a:prstGeom prst="rect">
            <a:avLst/>
          </a:prstGeom>
          <a:solidFill>
            <a:srgbClr val="E05A1D"/>
          </a:solidFill>
          <a:ln>
            <a:noFill/>
          </a:ln>
        </p:spPr>
        <p:txBody>
          <a:bodyPr spcFirstLastPara="1" wrap="square" lIns="68568" tIns="34275" rIns="68568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-9525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750594" y="1525190"/>
            <a:ext cx="3821906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571500" y="2000250"/>
            <a:ext cx="4013001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B1E36"/>
                </a:solidFill>
                <a:latin typeface="Calibri" panose="020F0502020204030204" pitchFamily="34" charset="0"/>
                <a:ea typeface="Poppins SemiBold" panose="00000500000000000000"/>
                <a:cs typeface="Calibri" panose="020F0502020204030204" pitchFamily="34" charset="0"/>
                <a:sym typeface="Poppins SemiBold" panose="00000500000000000000"/>
              </a:rPr>
              <a:t>Dataset Overview</a:t>
            </a:r>
            <a:endParaRPr lang="en-US" sz="1400" b="1" i="0" u="none" strike="noStrike" cap="none">
              <a:solidFill>
                <a:srgbClr val="0B1E36"/>
              </a:solidFill>
              <a:latin typeface="Calibri" panose="020F0502020204030204" pitchFamily="34" charset="0"/>
              <a:ea typeface="Poppins SemiBold" panose="00000500000000000000"/>
              <a:cs typeface="Calibri" panose="020F0502020204030204" pitchFamily="34" charset="0"/>
              <a:sym typeface="Poppins SemiBold" panose="00000500000000000000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571500" y="2319020"/>
            <a:ext cx="7069455" cy="645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Primary data was gathered through carefully designed student response surveys to evaluate ground reality directly.</a:t>
            </a:r>
            <a:endParaRPr lang="en-US" sz="14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771525" y="2821781"/>
            <a:ext cx="3621881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108 Responses:</a:t>
            </a:r>
            <a:r>
              <a:rPr lang="en-US" sz="14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Exhaustive target representation.</a:t>
            </a:r>
            <a:endParaRPr lang="en-US" sz="14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771525" y="3078956"/>
            <a:ext cx="3621881" cy="645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Google Forms:</a:t>
            </a:r>
            <a:r>
              <a:rPr lang="en-US" sz="14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Highly standardized virtual execution.</a:t>
            </a:r>
            <a:endParaRPr lang="en-US" sz="14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771525" y="3336131"/>
            <a:ext cx="3621881" cy="129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1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Key Variables:</a:t>
            </a:r>
            <a:r>
              <a:rPr lang="en-US" sz="14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Student CGPA, core technical skills, certificates, previous internships, and self-reported readiness.</a:t>
            </a:r>
            <a:endParaRPr lang="en-US" sz="14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80" name="Google Shape;180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861911"/>
            <a:ext cx="100013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107531"/>
            <a:ext cx="100013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364706"/>
            <a:ext cx="100013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678656" y="428625"/>
            <a:ext cx="8288536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B1E36"/>
                </a:solidFill>
                <a:latin typeface="Calibri" panose="020F0502020204030204" pitchFamily="34" charset="0"/>
                <a:ea typeface="Poppins SemiBold" panose="00000500000000000000"/>
                <a:cs typeface="Calibri" panose="020F0502020204030204" pitchFamily="34" charset="0"/>
                <a:sym typeface="Poppins SemiBold" panose="00000500000000000000"/>
              </a:rPr>
              <a:t>Data Collection</a:t>
            </a:r>
            <a:endParaRPr lang="en-US" sz="2400" b="1" i="0" u="none" strike="noStrike" cap="none">
              <a:solidFill>
                <a:srgbClr val="0B1E36"/>
              </a:solidFill>
              <a:latin typeface="Calibri" panose="020F0502020204030204" pitchFamily="34" charset="0"/>
              <a:ea typeface="Poppins SemiBold" panose="00000500000000000000"/>
              <a:cs typeface="Calibri" panose="020F0502020204030204" pitchFamily="34" charset="0"/>
              <a:sym typeface="Poppins SemiBold" panose="00000500000000000000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571500" y="428625"/>
            <a:ext cx="35719" cy="407194"/>
          </a:xfrm>
          <a:prstGeom prst="rect">
            <a:avLst/>
          </a:prstGeom>
          <a:solidFill>
            <a:srgbClr val="E05A1D"/>
          </a:solidFill>
          <a:ln>
            <a:noFill/>
          </a:ln>
        </p:spPr>
        <p:txBody>
          <a:bodyPr spcFirstLastPara="1" wrap="square" lIns="68568" tIns="34275" rIns="68568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1031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Research Methodology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143000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" y="114300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Mixed-Method Research Approach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0040" y="1828800"/>
            <a:ext cx="39776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828800"/>
            <a:ext cx="397764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182880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QUANTITATIVE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242316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23774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Likert-scale survey responses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288036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28346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Numerical GPA correlation data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333756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32918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Statistical frequency analysis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379476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37490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Percentage-based skill gap mapping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02920" y="425196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42062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Rating-scale self-assessment data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160520" y="2971800"/>
            <a:ext cx="822960" cy="822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60520" y="29718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4846320" y="1828800"/>
            <a:ext cx="39776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46320" y="1828800"/>
            <a:ext cx="39776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0" y="182880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QUALITATIVE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029200" y="242316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03520" y="23774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Open-ended student response text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029200" y="288036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303520" y="28346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Thematic pattern extraction via NLP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029200" y="333756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0" y="32918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and opinion analysis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029200" y="379476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303520" y="37490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Narrative coding of student concerns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029200" y="425196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303520" y="42062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Emergent theme identification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20040" y="4754880"/>
            <a:ext cx="8503920" cy="24688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20040" y="4754880"/>
            <a:ext cx="8503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Practice Applied: Real-world research demands multiple data types — we didn't rely on just one method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1031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&amp; Responsible AI Usage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143000"/>
            <a:ext cx="42976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143000"/>
            <a:ext cx="429768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143000"/>
            <a:ext cx="4297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ANALYSIS PIPELINE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1783080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5840" y="171907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Collection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05840" y="1993392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open-ended responses gathered from students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2322576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32257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05840" y="225856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05840" y="253288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Tokenization, stopword removal, normalization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" y="2862072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28620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05840" y="2798064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Analysis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05840" y="307238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Frequency analysis and keyword extraction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02920" y="340156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340156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05840" y="33375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Theme Extraction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05840" y="361188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Thematic clustering of recurring concerns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02920" y="3941064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394106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05840" y="3877056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 Generation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05840" y="415137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Data-driven findings for decision making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800600" y="1143000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800600" y="1143000"/>
            <a:ext cx="64008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83480" y="1234440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Responsible AI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983480" y="1618488"/>
            <a:ext cx="3703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Applied NLP ethically without invasive profiling or data misuse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800600" y="2404872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800600" y="2404872"/>
            <a:ext cx="64008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83480" y="2496312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Explainable Analysis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4983480" y="2880360"/>
            <a:ext cx="3703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AI-assisted findings can be traced back to source responses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800600" y="3666744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800600" y="3666744"/>
            <a:ext cx="64008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983480" y="3758184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Data-Driven Decisions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4983480" y="4142232"/>
            <a:ext cx="3703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Conclusions drawn from evidence, not assumptions or intuition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320040" y="4754880"/>
            <a:ext cx="8503920" cy="24688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20040" y="4754880"/>
            <a:ext cx="8503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Practice Applied: Responsible, explainable AI usage with data-driven decision making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1031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 Thinking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71600" y="1188720"/>
            <a:ext cx="64008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371600" y="1188720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Question We Dared to Ask: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"Does GPA Actually Reflect Job Readiness?"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320040" y="2560320"/>
            <a:ext cx="41148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2560320"/>
            <a:ext cx="411480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2560320"/>
            <a:ext cx="4114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Analytical Thinking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3090672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3044952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Questioned conventional wisdom about GPA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3639312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3593592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Challenged assumed correlation between grades &amp; skills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" y="4187952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4142232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evidence to examine a widely-held belief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63440" y="2560320"/>
            <a:ext cx="41148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63440" y="2560320"/>
            <a:ext cx="411480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63440" y="2560320"/>
            <a:ext cx="4114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Evidence-Based Questioning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846320" y="3090672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20640" y="3044952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a study to test, not just assume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846320" y="3639312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20640" y="3593592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 data shape the conclusions, not the other way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846320" y="4187952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20640" y="4142232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Maintained objectivity throughout the process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4754880"/>
            <a:ext cx="8503920" cy="24688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" y="4754880"/>
            <a:ext cx="8503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Practice Applied: Analytical thinking and evidence-based inquiry — the core of all professional research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1031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Communication &amp; Key Findings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10972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Skill Gap Ratings (% feeling unprepared)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1417320"/>
          <a:ext cx="5029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5532120" y="109728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Response Distribution</a:t>
            </a:r>
            <a:endParaRPr lang="en-US" sz="11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5486400" y="1417320"/>
          <a:ext cx="32918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Shape 6"/>
          <p:cNvSpPr/>
          <p:nvPr/>
        </p:nvSpPr>
        <p:spPr>
          <a:xfrm>
            <a:off x="320040" y="4645152"/>
            <a:ext cx="8503920" cy="3657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20040" y="4645152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Practice Applied: Clear visual communication simplifies complex findings for all stakeholders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3"/>
          <p:cNvSpPr txBox="1"/>
          <p:nvPr/>
        </p:nvSpPr>
        <p:spPr>
          <a:xfrm>
            <a:off x="678656" y="428625"/>
            <a:ext cx="3712964" cy="43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B1E36"/>
                </a:solidFill>
                <a:latin typeface="Calibri" panose="020F0502020204030204" pitchFamily="34" charset="0"/>
                <a:ea typeface="Poppins SemiBold" panose="00000500000000000000"/>
                <a:cs typeface="Calibri" panose="020F0502020204030204" pitchFamily="34" charset="0"/>
                <a:sym typeface="Poppins SemiBold" panose="00000500000000000000"/>
              </a:rPr>
              <a:t>Interactive Dashboard</a:t>
            </a:r>
            <a:endParaRPr lang="en-US" sz="2800" b="1" i="0" u="none" strike="noStrike" cap="none">
              <a:solidFill>
                <a:srgbClr val="0B1E36"/>
              </a:solidFill>
              <a:latin typeface="Calibri" panose="020F0502020204030204" pitchFamily="34" charset="0"/>
              <a:ea typeface="Poppins SemiBold" panose="00000500000000000000"/>
              <a:cs typeface="Calibri" panose="020F0502020204030204" pitchFamily="34" charset="0"/>
              <a:sym typeface="Poppins SemiBold" panose="00000500000000000000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571500" y="428625"/>
            <a:ext cx="35719" cy="407194"/>
          </a:xfrm>
          <a:prstGeom prst="rect">
            <a:avLst/>
          </a:prstGeom>
          <a:solidFill>
            <a:srgbClr val="E05A1D"/>
          </a:solidFill>
          <a:ln>
            <a:noFill/>
          </a:ln>
        </p:spPr>
        <p:txBody>
          <a:bodyPr spcFirstLastPara="1" wrap="square" lIns="68568" tIns="34275" rIns="68568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95" name="Google Shape;295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3"/>
          <p:cNvSpPr txBox="1"/>
          <p:nvPr/>
        </p:nvSpPr>
        <p:spPr>
          <a:xfrm>
            <a:off x="571500" y="1946672"/>
            <a:ext cx="3825478" cy="24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B1E36"/>
                </a:solidFill>
                <a:latin typeface="Calibri" panose="020F0502020204030204" pitchFamily="34" charset="0"/>
                <a:ea typeface="Poppins SemiBold" panose="00000500000000000000"/>
                <a:cs typeface="Calibri" panose="020F0502020204030204" pitchFamily="34" charset="0"/>
                <a:sym typeface="Poppins SemiBold" panose="00000500000000000000"/>
              </a:rPr>
              <a:t>Key Features</a:t>
            </a:r>
            <a:endParaRPr lang="en-US" sz="1600" b="1" i="0" u="none" strike="noStrike" cap="none">
              <a:solidFill>
                <a:srgbClr val="0B1E36"/>
              </a:solidFill>
              <a:latin typeface="Calibri" panose="020F0502020204030204" pitchFamily="34" charset="0"/>
              <a:ea typeface="Poppins SemiBold" panose="00000500000000000000"/>
              <a:cs typeface="Calibri" panose="020F0502020204030204" pitchFamily="34" charset="0"/>
              <a:sym typeface="Poppins SemiBold" panose="00000500000000000000"/>
            </a:endParaRPr>
          </a:p>
        </p:txBody>
      </p:sp>
      <p:sp>
        <p:nvSpPr>
          <p:cNvPr id="297" name="Google Shape;297;p23"/>
          <p:cNvSpPr txBox="1"/>
          <p:nvPr/>
        </p:nvSpPr>
        <p:spPr>
          <a:xfrm>
            <a:off x="571500" y="2282190"/>
            <a:ext cx="7100570" cy="645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We designed and implemented a custom real-time data analytical dashboard for instant data exploration.</a:t>
            </a:r>
            <a:endParaRPr lang="en-US" sz="14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98" name="Google Shape;298;p23"/>
          <p:cNvSpPr txBox="1"/>
          <p:nvPr/>
        </p:nvSpPr>
        <p:spPr>
          <a:xfrm>
            <a:off x="571500" y="2582545"/>
            <a:ext cx="7100570" cy="645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</a:br>
            <a:r>
              <a:rPr lang="en-US" sz="14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Utilizes fully modular interactive components for fast metric tracking across subsets.</a:t>
            </a:r>
            <a:endParaRPr lang="en-US" sz="14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99" name="Google Shape;299;p23"/>
          <p:cNvSpPr txBox="1"/>
          <p:nvPr/>
        </p:nvSpPr>
        <p:spPr>
          <a:xfrm>
            <a:off x="571500" y="3282553"/>
            <a:ext cx="3825478" cy="24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B1E36"/>
                </a:solidFill>
                <a:latin typeface="Calibri" panose="020F0502020204030204" pitchFamily="34" charset="0"/>
                <a:ea typeface="Poppins SemiBold" panose="00000500000000000000"/>
                <a:cs typeface="Calibri" panose="020F0502020204030204" pitchFamily="34" charset="0"/>
                <a:sym typeface="Poppins SemiBold" panose="00000500000000000000"/>
              </a:rPr>
              <a:t>Tech Stack</a:t>
            </a:r>
            <a:endParaRPr lang="en-US" sz="1600" b="1" i="0" u="none" strike="noStrike" cap="none">
              <a:solidFill>
                <a:srgbClr val="0B1E36"/>
              </a:solidFill>
              <a:latin typeface="Calibri" panose="020F0502020204030204" pitchFamily="34" charset="0"/>
              <a:ea typeface="Poppins SemiBold" panose="00000500000000000000"/>
              <a:cs typeface="Calibri" panose="020F0502020204030204" pitchFamily="34" charset="0"/>
              <a:sym typeface="Poppins SemiBold" panose="00000500000000000000"/>
            </a:endParaRPr>
          </a:p>
        </p:txBody>
      </p:sp>
      <p:pic>
        <p:nvPicPr>
          <p:cNvPr id="300" name="Google Shape;300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618309"/>
            <a:ext cx="492919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35856" y="3618309"/>
            <a:ext cx="56435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771650" y="3618309"/>
            <a:ext cx="821531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3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2664619" y="3618309"/>
            <a:ext cx="5143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1031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Reporting &amp; Documentation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188720"/>
            <a:ext cx="272491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188720"/>
            <a:ext cx="272491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298448"/>
            <a:ext cx="27249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20040" y="1783080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29768" y="2121408"/>
            <a:ext cx="250545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Clearly defined research goals and scope from the outset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64408" y="1188720"/>
            <a:ext cx="272491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64408" y="1188720"/>
            <a:ext cx="272491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64408" y="1298448"/>
            <a:ext cx="27249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🔬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264408" y="1783080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74136" y="2121408"/>
            <a:ext cx="250545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Step-by-step documentation of research and analysis approach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208776" y="1188720"/>
            <a:ext cx="272491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08776" y="1188720"/>
            <a:ext cx="272491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08776" y="1298448"/>
            <a:ext cx="27249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208776" y="1783080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318504" y="2121408"/>
            <a:ext cx="250545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Data-driven insights presented with supporting visualizations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463040" y="3246120"/>
            <a:ext cx="2880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463040" y="3246120"/>
            <a:ext cx="28803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63040" y="3310128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 Limitations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572768" y="376732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Honest acknowledgment of research boundaries and constraints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709160" y="3246120"/>
            <a:ext cx="2880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09160" y="3246120"/>
            <a:ext cx="28803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09160" y="3310128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 Recommendations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818888" y="376732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Actionable suggestions for universities, students, and industry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20040" y="4754880"/>
            <a:ext cx="8503920" cy="24688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0040" y="4754880"/>
            <a:ext cx="8503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Practice Applied: Structured reporting with full traceability from objective to recommendation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1031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 Impact Thinking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0" y="1143000"/>
            <a:ext cx="585216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0" y="1143000"/>
            <a:ext cx="5852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creates measurable impact across three key stakeholders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173736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737360"/>
            <a:ext cx="27432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80160" y="1874520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1938528"/>
            <a:ext cx="694944" cy="6949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040" y="27889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84632" y="3246120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04088" y="320040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personal skill gaps before graduation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84632" y="367588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04088" y="3630168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preparation and planning for careers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84632" y="410565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04088" y="4059936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Shift focus from GPA-only to holistic readiness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84632" y="4535424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04088" y="4489704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Gain self-awareness about employability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264408" y="173736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264408" y="1737360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224528" y="1874520"/>
            <a:ext cx="822960" cy="822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938528"/>
            <a:ext cx="694944" cy="69494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264408" y="27889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University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3429000" y="3246120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648456" y="320040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to support curriculum reform decisions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3429000" y="3675888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648456" y="3630168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 for adding practical skill development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3429000" y="4105656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648456" y="4059936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Bridge the gap between academia and industry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3429000" y="4535424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3648456" y="4489704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 graduate employment outcomes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6208776" y="173736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208776" y="1737360"/>
            <a:ext cx="27432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7168896" y="187452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1938528"/>
            <a:ext cx="694944" cy="69494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208776" y="27889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</a:t>
            </a:r>
            <a:endParaRPr lang="en-US" sz="1500" dirty="0"/>
          </a:p>
        </p:txBody>
      </p:sp>
      <p:sp>
        <p:nvSpPr>
          <p:cNvPr id="40" name="Shape 34"/>
          <p:cNvSpPr/>
          <p:nvPr/>
        </p:nvSpPr>
        <p:spPr>
          <a:xfrm>
            <a:off x="6373368" y="3246120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6592824" y="320040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to better-prepared skilled graduates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6373368" y="367588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592824" y="3630168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Reduced onboarding and training costs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6373368" y="410565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6592824" y="4059936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Closer collaboration with universities</a:t>
            </a:r>
            <a:endParaRPr lang="en-US" sz="950" dirty="0"/>
          </a:p>
        </p:txBody>
      </p:sp>
      <p:sp>
        <p:nvSpPr>
          <p:cNvPr id="46" name="Shape 40"/>
          <p:cNvSpPr/>
          <p:nvPr/>
        </p:nvSpPr>
        <p:spPr>
          <a:xfrm>
            <a:off x="6373368" y="4535424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6592824" y="4489704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into shaping relevant curricula</a:t>
            </a:r>
            <a:endParaRPr lang="en-US" sz="950" dirty="0"/>
          </a:p>
        </p:txBody>
      </p:sp>
      <p:sp>
        <p:nvSpPr>
          <p:cNvPr id="48" name="Shape 42"/>
          <p:cNvSpPr/>
          <p:nvPr/>
        </p:nvSpPr>
        <p:spPr>
          <a:xfrm>
            <a:off x="320040" y="4828032"/>
            <a:ext cx="8503920" cy="24688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320040" y="4828032"/>
            <a:ext cx="8503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Practice Applied: Thinking beyond the classroom to real societal and industry impact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1031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 ·  Team Management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188720"/>
            <a:ext cx="850392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93192" y="1188720"/>
            <a:ext cx="12984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64792" y="1188720"/>
            <a:ext cx="157276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410712" y="1188720"/>
            <a:ext cx="31272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Responsibility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11112" y="1188720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Skills Applied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" y="1600200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1600200"/>
            <a:ext cx="1280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783080" y="1600200"/>
            <a:ext cx="1554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Lead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429000" y="1600200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Collection &amp; Survey Distribution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629400" y="1600200"/>
            <a:ext cx="2194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Communication, Field Research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20040" y="2130552"/>
            <a:ext cx="850392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2130552"/>
            <a:ext cx="1280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2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783080" y="2130552"/>
            <a:ext cx="1554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Analyst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429000" y="2130552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Cleaning &amp; Preprocessing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629400" y="2130552"/>
            <a:ext cx="2194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Accuracy, Attention to Detail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0040" y="2660904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2660904"/>
            <a:ext cx="1280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3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783080" y="2660904"/>
            <a:ext cx="1554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Engineer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429000" y="2660904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Analysis &amp; Pattern Extraction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629400" y="2660904"/>
            <a:ext cx="2194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Tools, Text Mining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20040" y="3191256"/>
            <a:ext cx="850392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3191256"/>
            <a:ext cx="1280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4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783080" y="3191256"/>
            <a:ext cx="1554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Visualizer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3429000" y="3191256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Charts, Graphs &amp; Dashboard Design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629400" y="3191256"/>
            <a:ext cx="2194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Communication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20040" y="3721608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" y="3721608"/>
            <a:ext cx="1280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5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1783080" y="3721608"/>
            <a:ext cx="1554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Reporter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429000" y="3721608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Documentation &amp; Presentation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629400" y="3721608"/>
            <a:ext cx="2194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Writing, Delivery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20040" y="4297680"/>
            <a:ext cx="850392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7200" y="429768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Collaboration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2560320" y="429768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Accountability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663440" y="429768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Project Coordination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766560" y="429768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Structured Roles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320040" y="4892040"/>
            <a:ext cx="8503920" cy="1554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20040" y="4892040"/>
            <a:ext cx="85039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Practice Applied: Clear role division, defined timelines, and collaborative accountability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Shape 4"/>
          <p:cNvSpPr/>
          <p:nvPr/>
        </p:nvSpPr>
        <p:spPr>
          <a:xfrm>
            <a:off x="952500" y="39370"/>
            <a:ext cx="850392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" name="Shape 0"/>
          <p:cNvSpPr/>
          <p:nvPr/>
        </p:nvSpPr>
        <p:spPr>
          <a:xfrm>
            <a:off x="0" y="0"/>
            <a:ext cx="1494790" cy="5144135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>
            <a:endParaRPr lang="en-GB" altLang="en-US"/>
          </a:p>
        </p:txBody>
      </p:sp>
      <p:sp>
        <p:nvSpPr>
          <p:cNvPr id="5" name="Shape 1"/>
          <p:cNvSpPr/>
          <p:nvPr/>
        </p:nvSpPr>
        <p:spPr>
          <a:xfrm>
            <a:off x="327025" y="690880"/>
            <a:ext cx="961390" cy="98933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p>
            <a:endParaRPr lang="en-GB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495" y="829310"/>
            <a:ext cx="562610" cy="62928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37795" y="959485"/>
            <a:ext cx="1305560" cy="3244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  </a:t>
            </a: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 &amp; Research Honesty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27405" y="50800"/>
            <a:ext cx="875411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students hide limitations. We don't. Acknowledging limitations is a mark of true professionalism.</a:t>
            </a:r>
            <a:endParaRPr lang="en-US" sz="1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545" y="630555"/>
            <a:ext cx="6579235" cy="44215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274320" y="16459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10312"/>
            <a:ext cx="502920" cy="5029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97280" y="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 ·  Future Improvements &amp; Roadmap</a:t>
            </a:r>
            <a:endParaRPr lang="en-US" sz="2400" dirty="0"/>
          </a:p>
        </p:txBody>
      </p:sp>
      <p:sp>
        <p:nvSpPr>
          <p:cNvPr id="8" name="Shape 3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4730"/>
            <a:ext cx="9144000" cy="2039620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710" y="3159125"/>
            <a:ext cx="5116830" cy="17868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3210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Project Is Genuinely Strong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5548" y="1307592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1362456"/>
            <a:ext cx="566928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075688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41448" y="114300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76956" y="1307592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964" y="1362456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41448" y="2075688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Psychology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62856" y="114300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198364" y="1307592"/>
            <a:ext cx="68580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372" y="1362456"/>
            <a:ext cx="566928" cy="5669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62856" y="2075688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&amp; AI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684264" y="114300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319772" y="1307592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780" y="1362456"/>
            <a:ext cx="566928" cy="56692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84264" y="2075688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1005840" y="2926080"/>
            <a:ext cx="2468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892808" y="3090672"/>
            <a:ext cx="685800" cy="6858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816" y="3145536"/>
            <a:ext cx="566928" cy="56692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05840" y="3858768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Relevance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520440" y="2926080"/>
            <a:ext cx="2468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407408" y="3090672"/>
            <a:ext cx="685800" cy="6858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3145536"/>
            <a:ext cx="566928" cy="56692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520440" y="3858768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Ethics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6035040" y="2926080"/>
            <a:ext cx="2468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922008" y="3090672"/>
            <a:ext cx="685800" cy="6858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6016" y="3145536"/>
            <a:ext cx="566928" cy="56692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035040" y="3858768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320040" y="4599432"/>
            <a:ext cx="85039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320040" y="4599432"/>
            <a:ext cx="85039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"Very few student projects combine all these disciplines properly — this one does."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1D4ED8">
              <a:alpha val="35000"/>
            </a:srgbClr>
          </a:solidFill>
          <a:ln w="12700">
            <a:solidFill>
              <a:srgbClr val="1D4ED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D4ED8">
              <a:alpha val="30000"/>
            </a:srgbClr>
          </a:solidFill>
          <a:ln w="12700">
            <a:solidFill>
              <a:srgbClr val="1D4ED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457200"/>
            <a:ext cx="329184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45720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FJWU </a:t>
            </a: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Final Conclusion</a:t>
            </a:r>
            <a:endParaRPr lang="en-US" sz="16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Project Statement: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8412480" cy="1554480"/>
          </a:xfrm>
          <a:prstGeom prst="rect">
            <a:avLst/>
          </a:prstGeom>
          <a:solidFill>
            <a:srgbClr val="1D3461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63040"/>
            <a:ext cx="8138160" cy="146304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"This project is not just a research study — it is an analytical framework to understand the disconnect between academic achievement and real-world readiness."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1920240" cy="347472"/>
          </a:xfrm>
          <a:prstGeom prst="rect">
            <a:avLst/>
          </a:prstGeom>
          <a:solidFill>
            <a:srgbClr val="1D4ED8">
              <a:alpha val="70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15468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Research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3154680"/>
            <a:ext cx="1920240" cy="347472"/>
          </a:xfrm>
          <a:prstGeom prst="rect">
            <a:avLst/>
          </a:prstGeom>
          <a:solidFill>
            <a:srgbClr val="1D4ED8">
              <a:alpha val="70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315468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Ethics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3154680"/>
            <a:ext cx="1920240" cy="347472"/>
          </a:xfrm>
          <a:prstGeom prst="rect">
            <a:avLst/>
          </a:prstGeom>
          <a:solidFill>
            <a:srgbClr val="1D4ED8">
              <a:alpha val="70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15468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NLP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3154680"/>
            <a:ext cx="1920240" cy="347472"/>
          </a:xfrm>
          <a:prstGeom prst="rect">
            <a:avLst/>
          </a:prstGeom>
          <a:solidFill>
            <a:srgbClr val="1D4ED8">
              <a:alpha val="70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15468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Teamwork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1920240" cy="347472"/>
          </a:xfrm>
          <a:prstGeom prst="rect">
            <a:avLst/>
          </a:prstGeom>
          <a:solidFill>
            <a:srgbClr val="1D4ED8">
              <a:alpha val="70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65760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Documentation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3657600"/>
            <a:ext cx="1920240" cy="347472"/>
          </a:xfrm>
          <a:prstGeom prst="rect">
            <a:avLst/>
          </a:prstGeom>
          <a:solidFill>
            <a:srgbClr val="1D4ED8">
              <a:alpha val="70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365760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Visual Communication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3657600"/>
            <a:ext cx="1920240" cy="347472"/>
          </a:xfrm>
          <a:prstGeom prst="rect">
            <a:avLst/>
          </a:prstGeom>
          <a:solidFill>
            <a:srgbClr val="1D4ED8">
              <a:alpha val="70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365760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Critical Thinking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AE6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2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671763" y="2825353"/>
            <a:ext cx="3800475" cy="9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7"/>
          <p:cNvSpPr txBox="1"/>
          <p:nvPr/>
        </p:nvSpPr>
        <p:spPr>
          <a:xfrm>
            <a:off x="371475" y="1389459"/>
            <a:ext cx="8401050" cy="676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FAF8F5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Questions &amp; Discussion</a:t>
            </a:r>
            <a:endParaRPr lang="en-US" sz="4400" b="1" i="0" u="none" strike="noStrike" cap="none">
              <a:solidFill>
                <a:srgbClr val="FAF8F5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</p:txBody>
      </p:sp>
      <p:sp>
        <p:nvSpPr>
          <p:cNvPr id="365" name="Google Shape;365;p27"/>
          <p:cNvSpPr txBox="1"/>
          <p:nvPr/>
        </p:nvSpPr>
        <p:spPr>
          <a:xfrm>
            <a:off x="571500" y="2303859"/>
            <a:ext cx="80010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4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Thank you for your </a:t>
            </a:r>
            <a:r>
              <a:rPr lang="en-US" sz="16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valuable </a:t>
            </a:r>
            <a:r>
              <a:rPr lang="en-US" sz="124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time and attention.</a:t>
            </a:r>
            <a:endParaRPr lang="en-US" sz="124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66" name="Google Shape;366;p27"/>
          <p:cNvSpPr txBox="1"/>
          <p:nvPr/>
        </p:nvSpPr>
        <p:spPr>
          <a:xfrm>
            <a:off x="2893163" y="3104874"/>
            <a:ext cx="335767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Times New Roman" panose="02020603050405020304" charset="0"/>
                <a:ea typeface="Poppins SemiBold" panose="00000500000000000000"/>
                <a:cs typeface="Times New Roman" panose="02020603050405020304" charset="0"/>
                <a:sym typeface="Poppins SemiBold" panose="00000500000000000000"/>
              </a:rPr>
              <a:t>FJWU </a:t>
            </a:r>
            <a:r>
              <a:rPr lang="en-US" sz="1600" b="0" i="0" u="none" strike="noStrike" cap="none">
                <a:solidFill>
                  <a:srgbClr val="FFFFFF"/>
                </a:solidFill>
                <a:latin typeface="Times New Roman" panose="02020603050405020304" charset="0"/>
                <a:ea typeface="Poppins SemiBold" panose="00000500000000000000"/>
                <a:cs typeface="Times New Roman" panose="02020603050405020304" charset="0"/>
                <a:sym typeface="Poppins SemiBold" panose="00000500000000000000"/>
              </a:rPr>
              <a:t>CS </a:t>
            </a:r>
            <a:r>
              <a:rPr lang="en-US" sz="1400" b="0" i="0" u="none" strike="noStrike" cap="none">
                <a:solidFill>
                  <a:srgbClr val="FFFFFF"/>
                </a:solidFill>
                <a:latin typeface="Times New Roman" panose="02020603050405020304" charset="0"/>
                <a:ea typeface="Poppins SemiBold" panose="00000500000000000000"/>
                <a:cs typeface="Times New Roman" panose="02020603050405020304" charset="0"/>
                <a:sym typeface="Poppins SemiBold" panose="00000500000000000000"/>
              </a:rPr>
              <a:t>Capstone Project - Batch 202</a:t>
            </a:r>
            <a:r>
              <a:rPr lang="en-US" sz="1400">
                <a:solidFill>
                  <a:srgbClr val="FFFFFF"/>
                </a:solidFill>
                <a:latin typeface="Times New Roman" panose="02020603050405020304" charset="0"/>
                <a:ea typeface="Poppins SemiBold" panose="00000500000000000000"/>
                <a:cs typeface="Times New Roman" panose="02020603050405020304" charset="0"/>
                <a:sym typeface="Poppins SemiBold" panose="00000500000000000000"/>
              </a:rPr>
              <a:t>3</a:t>
            </a:r>
            <a:endParaRPr lang="en-US" sz="1400">
              <a:solidFill>
                <a:srgbClr val="FFFFFF"/>
              </a:solidFill>
              <a:latin typeface="Times New Roman" panose="02020603050405020304" charset="0"/>
              <a:ea typeface="Poppins SemiBold" panose="00000500000000000000"/>
              <a:cs typeface="Times New Roman" panose="02020603050405020304" charset="0"/>
              <a:sym typeface="Poppins SemiBold" panose="0000050000000000000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96.86877952755907,&quot;left&quot;:45,&quot;top&quot;:148.78122047244094,&quot;width&quot;:630.05}"/>
</p:tagLst>
</file>

<file path=ppt/tags/tag2.xml><?xml version="1.0" encoding="utf-8"?>
<p:tagLst xmlns:p="http://schemas.openxmlformats.org/presentationml/2006/main">
  <p:tag name="KSO_WM_DIAGRAM_VIRTUALLY_FRAME" val="{&quot;height&quot;:196.86877952755907,&quot;left&quot;:45,&quot;top&quot;:148.78122047244094,&quot;width&quot;:630.05}"/>
</p:tagLst>
</file>

<file path=ppt/tags/tag3.xml><?xml version="1.0" encoding="utf-8"?>
<p:tagLst xmlns:p="http://schemas.openxmlformats.org/presentationml/2006/main">
  <p:tag name="KSO_WM_DIAGRAM_VIRTUALLY_FRAME" val="{&quot;height&quot;:196.86877952755907,&quot;left&quot;:45,&quot;top&quot;:148.78122047244094,&quot;width&quot;:630.05}"/>
</p:tagLst>
</file>

<file path=ppt/tags/tag4.xml><?xml version="1.0" encoding="utf-8"?>
<p:tagLst xmlns:p="http://schemas.openxmlformats.org/presentationml/2006/main">
  <p:tag name="KSO_WM_DIAGRAM_VIRTUALLY_FRAME" val="{&quot;height&quot;:196.86877952755907,&quot;left&quot;:45,&quot;top&quot;:148.78122047244094,&quot;width&quot;:630.05}"/>
</p:tagLst>
</file>

<file path=ppt/tags/tag5.xml><?xml version="1.0" encoding="utf-8"?>
<p:tagLst xmlns:p="http://schemas.openxmlformats.org/presentationml/2006/main">
  <p:tag name="KSO_WM_DIAGRAM_VIRTUALLY_FRAME" val="{&quot;height&quot;:196.86877952755907,&quot;left&quot;:45,&quot;top&quot;:148.78122047244094,&quot;width&quot;:630.05}"/>
</p:tagLst>
</file>

<file path=ppt/tags/tag6.xml><?xml version="1.0" encoding="utf-8"?>
<p:tagLst xmlns:p="http://schemas.openxmlformats.org/presentationml/2006/main">
  <p:tag name="KSO_WM_DIAGRAM_VIRTUALLY_FRAME" val="{&quot;height&quot;:196.86877952755907,&quot;left&quot;:45,&quot;top&quot;:148.78122047244094,&quot;width&quot;:630.05}"/>
</p:tagLst>
</file>

<file path=ppt/tags/tag7.xml><?xml version="1.0" encoding="utf-8"?>
<p:tagLst xmlns:p="http://schemas.openxmlformats.org/presentationml/2006/main">
  <p:tag name="KSO_WM_DIAGRAM_VIRTUALLY_FRAME" val="{&quot;height&quot;:196.86877952755907,&quot;left&quot;:45,&quot;top&quot;:148.78122047244094,&quot;width&quot;:630.05}"/>
</p:tagLst>
</file>

<file path=ppt/tags/tag8.xml><?xml version="1.0" encoding="utf-8"?>
<p:tagLst xmlns:p="http://schemas.openxmlformats.org/presentationml/2006/main">
  <p:tag name="KSO_WM_DIAGRAM_VIRTUALLY_FRAME" val="{&quot;height&quot;:196.86877952755907,&quot;left&quot;:45,&quot;top&quot;:148.78122047244094,&quot;width&quot;:630.05}"/>
</p:tagLst>
</file>

<file path=ppt/tags/tag9.xml><?xml version="1.0" encoding="utf-8"?>
<p:tagLst xmlns:p="http://schemas.openxmlformats.org/presentationml/2006/main">
  <p:tag name="KSO_WM_DIAGRAM_VIRTUALLY_FRAME" val="{&quot;height&quot;:196.86877952755907,&quot;left&quot;:45,&quot;top&quot;:148.78122047244094,&quot;width&quot;:630.05}"/>
</p:tagLst>
</file>

<file path=ppt/tags/tag10.xml><?xml version="1.0" encoding="utf-8"?>
<p:tagLst xmlns:p="http://schemas.openxmlformats.org/presentationml/2006/main">
  <p:tag name="KSO_WM_DIAGRAM_VIRTUALLY_FRAME" val="{&quot;height&quot;:196.86877952755907,&quot;left&quot;:45,&quot;top&quot;:148.78122047244094,&quot;width&quot;:630.05}"/>
</p:tagLst>
</file>

<file path=ppt/tags/tag11.xml><?xml version="1.0" encoding="utf-8"?>
<p:tagLst xmlns:p="http://schemas.openxmlformats.org/presentationml/2006/main">
  <p:tag name="KSO_WM_DIAGRAM_VIRTUALLY_FRAME" val="{&quot;height&quot;:196.86877952755907,&quot;left&quot;:45,&quot;top&quot;:148.78122047244094,&quot;width&quot;:630.05}"/>
</p:tagLst>
</file>

<file path=ppt/tags/tag12.xml><?xml version="1.0" encoding="utf-8"?>
<p:tagLst xmlns:p="http://schemas.openxmlformats.org/presentationml/2006/main">
  <p:tag name="KSO_WM_DIAGRAM_VIRTUALLY_FRAME" val="{&quot;height&quot;:196.86877952755907,&quot;left&quot;:45,&quot;top&quot;:148.78122047244094,&quot;width&quot;:630.0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9391</Words>
  <Application>WPS Presentation</Application>
  <PresentationFormat>On-screen Show (16:9)</PresentationFormat>
  <Paragraphs>552</Paragraphs>
  <Slides>24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2" baseType="lpstr">
      <vt:lpstr>Arial</vt:lpstr>
      <vt:lpstr>SimSun</vt:lpstr>
      <vt:lpstr>Wingdings</vt:lpstr>
      <vt:lpstr>Times New Roman</vt:lpstr>
      <vt:lpstr>Calibri</vt:lpstr>
      <vt:lpstr>Calibri</vt:lpstr>
      <vt:lpstr>Calibri</vt:lpstr>
      <vt:lpstr>Inter</vt:lpstr>
      <vt:lpstr>Corbel</vt:lpstr>
      <vt:lpstr>Calibri</vt:lpstr>
      <vt:lpstr>Poppins SemiBold</vt:lpstr>
      <vt:lpstr>Segoe Print</vt:lpstr>
      <vt:lpstr>Inter Medium</vt:lpstr>
      <vt:lpstr>Microsoft YaHei</vt:lpstr>
      <vt:lpstr>Arial Unicode MS</vt:lpstr>
      <vt:lpstr>Arial</vt:lpstr>
      <vt:lpstr>Poppins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GPA: Are FJWU Students Truly Job-Ready?</dc:title>
  <dc:creator>PptxGenJS</dc:creator>
  <dc:subject>PptxGenJS Presentation</dc:subject>
  <cp:lastModifiedBy>WPS_1763189093</cp:lastModifiedBy>
  <cp:revision>5</cp:revision>
  <dcterms:created xsi:type="dcterms:W3CDTF">2026-05-15T07:28:00Z</dcterms:created>
  <dcterms:modified xsi:type="dcterms:W3CDTF">2026-05-21T03:36:25Z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62F1AD9651674B06B1832B566C582657_13</vt:lpwstr>
  </property>
  <property fmtid="{D5CDD505-2E9C-101B-9397-08002B2CF9AE}" pid="3" name="KSOProductBuildVer">
    <vt:lpwstr>2057-12.2.0.23202</vt:lpwstr>
  </property>
</Properties>
</file>